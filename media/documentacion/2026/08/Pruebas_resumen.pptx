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EDAEC-63EB-4F96-8DD2-675FAAC8A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Pruebas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F7CB5D-1B0A-4EDC-818C-460BBBDC4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73634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9274B-8A81-4AD6-97AB-146DC916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son?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A49FE0-7E6F-43AB-A375-704B0C0B8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i="1" dirty="0"/>
              <a:t>Las pruebas intentan demostrar que un programa hace lo que se intenta que haga, así como descubrir defectos en el programa antes de usarlo.</a:t>
            </a:r>
          </a:p>
          <a:p>
            <a:pPr lvl="1"/>
            <a:r>
              <a:rPr lang="es-ES" dirty="0"/>
              <a:t>Probamos con </a:t>
            </a:r>
            <a:r>
              <a:rPr lang="es-ES" b="1" dirty="0"/>
              <a:t>datos artificiales</a:t>
            </a:r>
            <a:r>
              <a:rPr lang="es-ES" dirty="0"/>
              <a:t> y verificamos los resultados para buscar errores.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2996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EB9EE-C509-480A-B9D8-5ED27B65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Metas de las pruebas</a:t>
            </a:r>
            <a:endParaRPr lang="es-AR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7009DBA-82DA-4B88-ABE7-9424780D2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474125"/>
              </p:ext>
            </p:extLst>
          </p:nvPr>
        </p:nvGraphicFramePr>
        <p:xfrm>
          <a:off x="1016000" y="1631020"/>
          <a:ext cx="9464223" cy="1943100"/>
        </p:xfrm>
        <a:graphic>
          <a:graphicData uri="http://schemas.openxmlformats.org/drawingml/2006/table">
            <a:tbl>
              <a:tblPr/>
              <a:tblGrid>
                <a:gridCol w="3154741">
                  <a:extLst>
                    <a:ext uri="{9D8B030D-6E8A-4147-A177-3AD203B41FA5}">
                      <a16:colId xmlns:a16="http://schemas.microsoft.com/office/drawing/2014/main" val="2366491819"/>
                    </a:ext>
                  </a:extLst>
                </a:gridCol>
                <a:gridCol w="3154741">
                  <a:extLst>
                    <a:ext uri="{9D8B030D-6E8A-4147-A177-3AD203B41FA5}">
                      <a16:colId xmlns:a16="http://schemas.microsoft.com/office/drawing/2014/main" val="3081231502"/>
                    </a:ext>
                  </a:extLst>
                </a:gridCol>
                <a:gridCol w="3154741">
                  <a:extLst>
                    <a:ext uri="{9D8B030D-6E8A-4147-A177-3AD203B41FA5}">
                      <a16:colId xmlns:a16="http://schemas.microsoft.com/office/drawing/2014/main" val="58675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Meta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Enfoque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Se logra con...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64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  <a:latin typeface="quote-cjk-patch"/>
                        </a:rPr>
                        <a:t>1. Demostrar que cumple requerimientos</a:t>
                      </a:r>
                      <a:endParaRPr lang="es-E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Validación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Pruebas que reflejan el uso previsto del sistema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66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2. Encontrar defectos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Detección de errores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effectLst/>
                          <a:latin typeface="quote-cjk-patch"/>
                        </a:rPr>
                        <a:t>Casos deliberadamente confusos o extremos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9760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DF80B1D-57E9-4BE9-BD74-A659C903B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1" y="4752422"/>
            <a:ext cx="98341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Importante: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Las pruebas NO pueden demostrar que el software está 100% libre de defectos. Siempre puede haber algún caso que no probamos.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10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00346-E92F-4498-A7F0-D86CEDBC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Verificación vs Validación (V&amp;V)</a:t>
            </a:r>
            <a:br>
              <a:rPr lang="es-ES" b="1" dirty="0"/>
            </a:br>
            <a:endParaRPr lang="es-AR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0DE7755-1315-4FCD-970F-A7CB2FB8D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09223"/>
              </p:ext>
            </p:extLst>
          </p:nvPr>
        </p:nvGraphicFramePr>
        <p:xfrm>
          <a:off x="2141166" y="1853247"/>
          <a:ext cx="7162962" cy="2217420"/>
        </p:xfrm>
        <a:graphic>
          <a:graphicData uri="http://schemas.openxmlformats.org/drawingml/2006/table">
            <a:tbl>
              <a:tblPr/>
              <a:tblGrid>
                <a:gridCol w="2387654">
                  <a:extLst>
                    <a:ext uri="{9D8B030D-6E8A-4147-A177-3AD203B41FA5}">
                      <a16:colId xmlns:a16="http://schemas.microsoft.com/office/drawing/2014/main" val="4019039970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1897071769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549069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0" dirty="0">
                          <a:effectLst/>
                          <a:latin typeface="quote-cjk-patch"/>
                        </a:rPr>
                        <a:t>Concepto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Pregunta clave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 dirty="0">
                          <a:effectLst/>
                          <a:latin typeface="quote-cjk-patch"/>
                        </a:rPr>
                        <a:t>¿Qué busca?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30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Validación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"¿Construimos el producto CORRECTO?"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¿Satisface las necesidades reales del usuario?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26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 dirty="0">
                          <a:effectLst/>
                          <a:latin typeface="quote-cjk-patch"/>
                        </a:rPr>
                        <a:t>Verificación</a:t>
                      </a:r>
                      <a:endParaRPr lang="es-AR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>
                          <a:effectLst/>
                          <a:latin typeface="quote-cjk-patch"/>
                        </a:rPr>
                        <a:t>"¿Construimos BIEN el producto?"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¿Cumple con la especificación técnica?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0051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B7425B-ED00-4074-AD49-6FE3A6AEB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766" y="5090373"/>
            <a:ext cx="7721762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Objetivo final: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Establecer </a:t>
            </a: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confianza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de que el sistema es "adecuado" para su uso.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35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57AD7-69F1-4AED-A887-52F83F25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¿Cuándo realizar pruebas?</a:t>
            </a:r>
            <a:endParaRPr lang="es-AR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A178152-F036-4415-B6FB-1138254C2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561144"/>
              </p:ext>
            </p:extLst>
          </p:nvPr>
        </p:nvGraphicFramePr>
        <p:xfrm>
          <a:off x="1944607" y="2048193"/>
          <a:ext cx="7162962" cy="2956560"/>
        </p:xfrm>
        <a:graphic>
          <a:graphicData uri="http://schemas.openxmlformats.org/drawingml/2006/table">
            <a:tbl>
              <a:tblPr/>
              <a:tblGrid>
                <a:gridCol w="3581481">
                  <a:extLst>
                    <a:ext uri="{9D8B030D-6E8A-4147-A177-3AD203B41FA5}">
                      <a16:colId xmlns:a16="http://schemas.microsoft.com/office/drawing/2014/main" val="722340513"/>
                    </a:ext>
                  </a:extLst>
                </a:gridCol>
                <a:gridCol w="3581481">
                  <a:extLst>
                    <a:ext uri="{9D8B030D-6E8A-4147-A177-3AD203B41FA5}">
                      <a16:colId xmlns:a16="http://schemas.microsoft.com/office/drawing/2014/main" val="3553896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Factor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Ejemplo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783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 dirty="0">
                          <a:effectLst/>
                          <a:latin typeface="quote-cjk-patch"/>
                        </a:rPr>
                        <a:t>1. Propósito del software</a:t>
                      </a:r>
                      <a:endParaRPr lang="es-AR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Un sistema de control de tráfico aéreo requiere MUCHAS más pruebas que un videojuego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21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2. Expectativas del usuario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Si los usuarios toleran fallas, podemos probar menos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35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3. Entorno de mercado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Si hay competencia feroz, a veces se lanza rápido y se arregla después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54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18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B48A4-4E92-4B7C-B586-E85A21A6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Técnicas de prueba (estáticas vs dinámicas)</a:t>
            </a:r>
            <a:br>
              <a:rPr lang="es-ES" b="1" dirty="0"/>
            </a:br>
            <a:endParaRPr lang="es-AR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9DE389D-80DE-4189-AACD-BDCC397FA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83732"/>
              </p:ext>
            </p:extLst>
          </p:nvPr>
        </p:nvGraphicFramePr>
        <p:xfrm>
          <a:off x="2191966" y="2305966"/>
          <a:ext cx="7162962" cy="2491740"/>
        </p:xfrm>
        <a:graphic>
          <a:graphicData uri="http://schemas.openxmlformats.org/drawingml/2006/table">
            <a:tbl>
              <a:tblPr/>
              <a:tblGrid>
                <a:gridCol w="2387654">
                  <a:extLst>
                    <a:ext uri="{9D8B030D-6E8A-4147-A177-3AD203B41FA5}">
                      <a16:colId xmlns:a16="http://schemas.microsoft.com/office/drawing/2014/main" val="796590505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138637371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631145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0" dirty="0">
                          <a:effectLst/>
                          <a:latin typeface="quote-cjk-patch"/>
                        </a:rPr>
                        <a:t>Tipo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¿Qué es?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Ejemplo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556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Estáticas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No se ejecuta el software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Inspecciones de código, revisiones de requerimientos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646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Dinámicas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Se ejecuta el software con datos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Pruebas unitarias, de integración, de sistema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94778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B31A51B-C97C-4939-9D17-FC6B45FF8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559" y="5341035"/>
            <a:ext cx="100057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inspecciones NO reemplazan las pruebas dinámicas (no detectan problemas de temporización o rendimiento).</a:t>
            </a:r>
          </a:p>
        </p:txBody>
      </p:sp>
    </p:spTree>
    <p:extLst>
      <p:ext uri="{BB962C8B-B14F-4D97-AF65-F5344CB8AC3E}">
        <p14:creationId xmlns:p14="http://schemas.microsoft.com/office/powerpoint/2010/main" val="1637149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08287-AB63-4153-A8ED-0EE4103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de pruebas (etapas)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199546-1E2D-4C24-A454-2B7489A25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44" y="1384052"/>
            <a:ext cx="5322888" cy="177401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/>
              <a:t>Nivel 1: PRUEBAS DE DESARROLLO</a:t>
            </a:r>
          </a:p>
          <a:p>
            <a:pPr marL="0" indent="0" algn="ctr">
              <a:buNone/>
            </a:pPr>
            <a:r>
              <a:rPr lang="es-ES" sz="1400" dirty="0"/>
              <a:t>         ↓</a:t>
            </a:r>
          </a:p>
          <a:p>
            <a:pPr marL="0" indent="0" algn="ctr">
              <a:buNone/>
            </a:pPr>
            <a:r>
              <a:rPr lang="es-ES" sz="1400" dirty="0"/>
              <a:t>Nivel 2: PRUEBAS DE SISTEMA  </a:t>
            </a:r>
          </a:p>
          <a:p>
            <a:pPr marL="0" indent="0" algn="ctr">
              <a:buNone/>
            </a:pPr>
            <a:r>
              <a:rPr lang="es-ES" sz="1400" dirty="0"/>
              <a:t>         ↓</a:t>
            </a:r>
          </a:p>
          <a:p>
            <a:pPr marL="0" indent="0" algn="ctr">
              <a:buNone/>
            </a:pPr>
            <a:r>
              <a:rPr lang="es-ES" sz="1400" dirty="0"/>
              <a:t>Nivel 3: PRUEBAS DE ACEPTACIÓN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E0FF4A6-1F17-4F54-919A-15E4304D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67274"/>
              </p:ext>
            </p:extLst>
          </p:nvPr>
        </p:nvGraphicFramePr>
        <p:xfrm>
          <a:off x="2113594" y="3412067"/>
          <a:ext cx="7162962" cy="2956560"/>
        </p:xfrm>
        <a:graphic>
          <a:graphicData uri="http://schemas.openxmlformats.org/drawingml/2006/table">
            <a:tbl>
              <a:tblPr/>
              <a:tblGrid>
                <a:gridCol w="2387654">
                  <a:extLst>
                    <a:ext uri="{9D8B030D-6E8A-4147-A177-3AD203B41FA5}">
                      <a16:colId xmlns:a16="http://schemas.microsoft.com/office/drawing/2014/main" val="1335940108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648026106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1491497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Nivel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¿Qué se prueba?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 dirty="0">
                          <a:effectLst/>
                          <a:latin typeface="quote-cjk-patch"/>
                        </a:rPr>
                        <a:t>¿Quién prueba?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701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Desarrollo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Componentes individuales (unidades)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El programador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315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Sistema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>
                          <a:effectLst/>
                          <a:latin typeface="quote-cjk-patch"/>
                        </a:rPr>
                        <a:t>Sistema completo integrado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Equipo de prueba independiente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7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Aceptación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Sistema con datos REALES del cliente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El cliente o usuario final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530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29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B77FC-5957-4F7C-AA36-31EBFFE3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Particiones de equivalencia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BFE75-53B3-453F-A532-F018411C9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749549"/>
          </a:xfrm>
        </p:spPr>
        <p:txBody>
          <a:bodyPr/>
          <a:lstStyle/>
          <a:p>
            <a:r>
              <a:rPr lang="es-ES" i="1" dirty="0"/>
              <a:t>"Si un representante de una clase falla, todos los demás de esa clase probablemente fallarán. Si uno funciona, todos funcionan."</a:t>
            </a:r>
            <a:endParaRPr lang="es-AR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625BC1F-6BAA-48C2-8650-F5D5DDBA8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09393"/>
              </p:ext>
            </p:extLst>
          </p:nvPr>
        </p:nvGraphicFramePr>
        <p:xfrm>
          <a:off x="1944607" y="3125894"/>
          <a:ext cx="7162962" cy="1859280"/>
        </p:xfrm>
        <a:graphic>
          <a:graphicData uri="http://schemas.openxmlformats.org/drawingml/2006/table">
            <a:tbl>
              <a:tblPr/>
              <a:tblGrid>
                <a:gridCol w="2387654">
                  <a:extLst>
                    <a:ext uri="{9D8B030D-6E8A-4147-A177-3AD203B41FA5}">
                      <a16:colId xmlns:a16="http://schemas.microsoft.com/office/drawing/2014/main" val="3126858176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187708498"/>
                    </a:ext>
                  </a:extLst>
                </a:gridCol>
                <a:gridCol w="2387654">
                  <a:extLst>
                    <a:ext uri="{9D8B030D-6E8A-4147-A177-3AD203B41FA5}">
                      <a16:colId xmlns:a16="http://schemas.microsoft.com/office/drawing/2014/main" val="573270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Clase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 dirty="0">
                          <a:effectLst/>
                          <a:latin typeface="quote-cjk-patch"/>
                        </a:rPr>
                        <a:t>Ejemplo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0">
                          <a:effectLst/>
                          <a:latin typeface="quote-cjk-patch"/>
                        </a:rPr>
                        <a:t>¿Qué esperamos?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0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Válida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25, 50, 75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Todos funcionan igual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15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Inválida (bajo)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-5, 0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Todos dan error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010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1">
                          <a:effectLst/>
                          <a:latin typeface="quote-cjk-patch"/>
                        </a:rPr>
                        <a:t>Inválida (alto)</a:t>
                      </a:r>
                      <a:endParaRPr lang="es-AR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150, 200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>
                          <a:effectLst/>
                          <a:latin typeface="quote-cjk-patch"/>
                        </a:rPr>
                        <a:t>Todos dan error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290841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FC55B694-928C-4E6D-8C0D-A1195EE1E98B}"/>
              </a:ext>
            </a:extLst>
          </p:cNvPr>
          <p:cNvSpPr/>
          <p:nvPr/>
        </p:nvSpPr>
        <p:spPr>
          <a:xfrm>
            <a:off x="1944607" y="548195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9FAFB"/>
                </a:solidFill>
                <a:latin typeface="quote-cjk-patch"/>
              </a:rPr>
              <a:t>Probar valores en las </a:t>
            </a:r>
            <a:r>
              <a:rPr lang="es-ES" b="1" dirty="0">
                <a:solidFill>
                  <a:srgbClr val="F9FAFB"/>
                </a:solidFill>
                <a:latin typeface="quote-cjk-patch"/>
              </a:rPr>
              <a:t>FRONTERAS</a:t>
            </a:r>
            <a:r>
              <a:rPr lang="es-ES" dirty="0">
                <a:solidFill>
                  <a:srgbClr val="F9FAFB"/>
                </a:solidFill>
                <a:latin typeface="quote-cjk-patch"/>
              </a:rPr>
              <a:t> (1, 100)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9FAFB"/>
                </a:solidFill>
                <a:latin typeface="quote-cjk-patch"/>
              </a:rPr>
              <a:t>Usar </a:t>
            </a:r>
            <a:r>
              <a:rPr lang="es-ES" b="1" dirty="0">
                <a:solidFill>
                  <a:srgbClr val="F9FAFB"/>
                </a:solidFill>
                <a:latin typeface="quote-cjk-patch"/>
              </a:rPr>
              <a:t>caja negra</a:t>
            </a:r>
            <a:r>
              <a:rPr lang="es-ES" dirty="0">
                <a:solidFill>
                  <a:srgbClr val="F9FAFB"/>
                </a:solidFill>
                <a:latin typeface="quote-cjk-patch"/>
              </a:rPr>
              <a:t> (solo especificación) y </a:t>
            </a:r>
            <a:r>
              <a:rPr lang="es-ES" b="1" dirty="0">
                <a:solidFill>
                  <a:srgbClr val="F9FAFB"/>
                </a:solidFill>
                <a:latin typeface="quote-cjk-patch"/>
              </a:rPr>
              <a:t>caja blanca</a:t>
            </a:r>
            <a:r>
              <a:rPr lang="es-ES" dirty="0">
                <a:solidFill>
                  <a:srgbClr val="F9FAFB"/>
                </a:solidFill>
                <a:latin typeface="quote-cjk-patch"/>
              </a:rPr>
              <a:t> (mirando el código)</a:t>
            </a:r>
            <a:endParaRPr lang="es-E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18223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98156-ED34-4604-927D-3BABCE48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Errores de interfaz (pruebas de componentes)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0D57199-59E9-47C8-ABD5-9DD6C7137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601638"/>
              </p:ext>
            </p:extLst>
          </p:nvPr>
        </p:nvGraphicFramePr>
        <p:xfrm>
          <a:off x="2029274" y="2317908"/>
          <a:ext cx="7162962" cy="2598420"/>
        </p:xfrm>
        <a:graphic>
          <a:graphicData uri="http://schemas.openxmlformats.org/drawingml/2006/table">
            <a:tbl>
              <a:tblPr/>
              <a:tblGrid>
                <a:gridCol w="3581481">
                  <a:extLst>
                    <a:ext uri="{9D8B030D-6E8A-4147-A177-3AD203B41FA5}">
                      <a16:colId xmlns:a16="http://schemas.microsoft.com/office/drawing/2014/main" val="2623471670"/>
                    </a:ext>
                  </a:extLst>
                </a:gridCol>
                <a:gridCol w="3581481">
                  <a:extLst>
                    <a:ext uri="{9D8B030D-6E8A-4147-A177-3AD203B41FA5}">
                      <a16:colId xmlns:a16="http://schemas.microsoft.com/office/drawing/2014/main" val="1746109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AR" b="1" dirty="0">
                          <a:effectLst/>
                          <a:latin typeface="quote-cjk-patch"/>
                        </a:rPr>
                        <a:t>Tipo de interfaz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b="1" dirty="0">
                          <a:effectLst/>
                          <a:latin typeface="quote-cjk-patch"/>
                        </a:rPr>
                        <a:t>Error típico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696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Parámetros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Pasar datos en orden incorrecto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6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Memoria compartida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>
                          <a:effectLst/>
                          <a:latin typeface="quote-cjk-patch"/>
                        </a:rPr>
                        <a:t>Un componente corrompe datos de otro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20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Procedimiento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>
                          <a:effectLst/>
                          <a:latin typeface="quote-cjk-patch"/>
                        </a:rPr>
                        <a:t>Llamar a una función que no existe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14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AR" b="0">
                          <a:effectLst/>
                          <a:latin typeface="quote-cjk-patch"/>
                        </a:rPr>
                        <a:t>Paso de mensajes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>
                          <a:effectLst/>
                          <a:latin typeface="quote-cjk-patch"/>
                        </a:rPr>
                        <a:t>Tiempo de espera agotado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921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603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500</Words>
  <Application>Microsoft Office PowerPoint</Application>
  <PresentationFormat>Panorámica</PresentationFormat>
  <Paragraphs>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quote-cjk-patch</vt:lpstr>
      <vt:lpstr>Wingdings 3</vt:lpstr>
      <vt:lpstr>Ion</vt:lpstr>
      <vt:lpstr>Pruebas</vt:lpstr>
      <vt:lpstr>¿Qué son?</vt:lpstr>
      <vt:lpstr>Metas de las pruebas</vt:lpstr>
      <vt:lpstr>Verificación vs Validación (V&amp;V) </vt:lpstr>
      <vt:lpstr>¿Cuándo realizar pruebas?</vt:lpstr>
      <vt:lpstr>Técnicas de prueba (estáticas vs dinámicas) </vt:lpstr>
      <vt:lpstr>Niveles de pruebas (etapas)</vt:lpstr>
      <vt:lpstr>Particiones de equivalencia</vt:lpstr>
      <vt:lpstr>Errores de interfaz (pruebas de componentes)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</dc:title>
  <dc:creator>Hernan</dc:creator>
  <cp:lastModifiedBy>Hernan</cp:lastModifiedBy>
  <cp:revision>3</cp:revision>
  <dcterms:created xsi:type="dcterms:W3CDTF">2026-06-04T09:33:24Z</dcterms:created>
  <dcterms:modified xsi:type="dcterms:W3CDTF">2026-06-04T10:00:34Z</dcterms:modified>
</cp:coreProperties>
</file>